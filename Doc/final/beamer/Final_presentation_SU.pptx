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8" r:id="rId2"/>
    <p:sldId id="274" r:id="rId3"/>
    <p:sldId id="263" r:id="rId4"/>
    <p:sldId id="264" r:id="rId5"/>
    <p:sldId id="265" r:id="rId6"/>
    <p:sldId id="275" r:id="rId7"/>
    <p:sldId id="266" r:id="rId8"/>
    <p:sldId id="270" r:id="rId9"/>
    <p:sldId id="267" r:id="rId10"/>
    <p:sldId id="271" r:id="rId11"/>
    <p:sldId id="282" r:id="rId12"/>
    <p:sldId id="272" r:id="rId13"/>
    <p:sldId id="283" r:id="rId14"/>
    <p:sldId id="273" r:id="rId15"/>
    <p:sldId id="285" r:id="rId16"/>
    <p:sldId id="284" r:id="rId17"/>
    <p:sldId id="286" r:id="rId18"/>
    <p:sldId id="269" r:id="rId19"/>
    <p:sldId id="287" r:id="rId20"/>
    <p:sldId id="276" r:id="rId21"/>
    <p:sldId id="277" r:id="rId22"/>
  </p:sldIdLst>
  <p:sldSz cx="9144000" cy="5143500" type="screen16x9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94" userDrawn="1">
          <p15:clr>
            <a:srgbClr val="A4A3A4"/>
          </p15:clr>
        </p15:guide>
        <p15:guide id="4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9B9B"/>
    <a:srgbClr val="9F7910"/>
    <a:srgbClr val="FFC000"/>
    <a:srgbClr val="000000"/>
    <a:srgbClr val="00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38" autoAdjust="0"/>
    <p:restoredTop sz="84228" autoAdjust="0"/>
  </p:normalViewPr>
  <p:slideViewPr>
    <p:cSldViewPr snapToGrid="0">
      <p:cViewPr varScale="1">
        <p:scale>
          <a:sx n="118" d="100"/>
          <a:sy n="118" d="100"/>
        </p:scale>
        <p:origin x="968" y="184"/>
      </p:cViewPr>
      <p:guideLst>
        <p:guide pos="2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33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1211CE88-9EF7-44EC-A581-1D3B6B773B8D}" type="datetime1">
              <a:rPr lang="de-DE" sz="800" smtClean="0"/>
              <a:t>24.07.26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47680" y="256832"/>
            <a:ext cx="6113274" cy="47505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2956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" y="1020763"/>
            <a:ext cx="6792913" cy="38211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47992" y="5016760"/>
            <a:ext cx="6112961" cy="364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23850" y="8776800"/>
            <a:ext cx="464415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120175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/>
            </a:lvl1pPr>
          </a:lstStyle>
          <a:p>
            <a:fld id="{05DD1DF0-DD4E-4B0C-B0FD-D16D9D2A97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04" userDrawn="1">
          <p15:clr>
            <a:srgbClr val="F26B43"/>
          </p15:clr>
        </p15:guide>
        <p15:guide id="3" pos="408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917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12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385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18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675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103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69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975" indent="-180975"/>
            <a:endParaRPr lang="en-GB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534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7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C982-39CD-B5E2-01C7-5A612030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F4AC5-D855-EFD7-D1BC-DC901799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81E7E-519A-5BBF-12D5-BABD8D429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E590E26-D928-AB4C-AE22-E59643027D6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DC7A-97F3-AC85-119A-D967FF085F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31D38-573F-0029-629E-763975E2B5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58078-D81B-EEF8-2619-1877D2345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27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20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D2B3-1A7B-DD50-837A-345606866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8A697-63AC-0BF5-9F24-BC2B49EC4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3F050-591E-C55E-D901-D7B04E1D1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31D028E-7089-1D9B-F762-84CAF47432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F665D-0116-E838-7774-660343256E6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A7D6F-2999-8A6D-1D45-51E9B930F87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20961-3FF4-60F3-C885-356BA457C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948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082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14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9048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4BB9-43E1-CDAB-4A93-062DE3FA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9A9EA-4ADB-2574-73B2-E7911DFFB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5ECAC-2718-C7B6-5389-A62D752BD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3C8B97B-3C9B-AE72-1FB1-1BB4B6FB88F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90C61-3F4D-7A2B-77FF-D2388A31B8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EF846-A91C-5C36-DC4B-7876FBE432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604B0-F036-CE6D-7439-02D690854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2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0660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32CE-1DD1-BEAB-151F-A815CF3C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89E8E-6E2F-CADB-7844-86ED2D764D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0A204-2697-D5F0-8985-BCD996F4D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8E63272-7151-36F3-AE94-CBEBD678950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26E70-AA4B-3E99-0277-8A037023D8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F0CDA-D48B-9F93-69A0-8960766414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4D176-3FDE-5F48-BBFF-96FAECA9D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46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767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C3B4086-F213-45A3-8277-C49E3816FA24}" type="datetime1">
              <a:rPr lang="de-DE" smtClean="0"/>
              <a:t>24.07.26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127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 Institute Sublogo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F2727769-9A35-4722-8FB2-4C78D29654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1"/>
            <a:ext cx="9144000" cy="33048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itel 14">
            <a:extLst>
              <a:ext uri="{FF2B5EF4-FFF2-40B4-BE49-F238E27FC236}">
                <a16:creationId xmlns:a16="http://schemas.microsoft.com/office/drawing/2014/main" id="{34A0F9E8-2FA1-40F5-9BAC-817EE5B5F4E7}"/>
              </a:ext>
            </a:extLst>
          </p:cNvPr>
          <p:cNvSpPr>
            <a:spLocks noGrp="1" noChangeAspect="1"/>
          </p:cNvSpPr>
          <p:nvPr>
            <p:ph type="ctrTitle"/>
          </p:nvPr>
        </p:nvSpPr>
        <p:spPr>
          <a:xfrm>
            <a:off x="4451194" y="21294"/>
            <a:ext cx="4692806" cy="4550347"/>
          </a:xfrm>
          <a:custGeom>
            <a:avLst/>
            <a:gdLst>
              <a:gd name="connsiteX0" fmla="*/ 3208825 w 5540464"/>
              <a:gd name="connsiteY0" fmla="*/ 0 h 5372273"/>
              <a:gd name="connsiteX1" fmla="*/ 5477807 w 5540464"/>
              <a:gd name="connsiteY1" fmla="*/ 939843 h 5372273"/>
              <a:gd name="connsiteX2" fmla="*/ 5540464 w 5540464"/>
              <a:gd name="connsiteY2" fmla="*/ 1008784 h 5372273"/>
              <a:gd name="connsiteX3" fmla="*/ 5540464 w 5540464"/>
              <a:gd name="connsiteY3" fmla="*/ 5372273 h 5372273"/>
              <a:gd name="connsiteX4" fmla="*/ 843928 w 5540464"/>
              <a:gd name="connsiteY4" fmla="*/ 5372273 h 5372273"/>
              <a:gd name="connsiteX5" fmla="*/ 732740 w 5540464"/>
              <a:gd name="connsiteY5" fmla="*/ 5249936 h 5372273"/>
              <a:gd name="connsiteX6" fmla="*/ 0 w 5540464"/>
              <a:gd name="connsiteY6" fmla="*/ 3208825 h 5372273"/>
              <a:gd name="connsiteX7" fmla="*/ 3208825 w 5540464"/>
              <a:gd name="connsiteY7" fmla="*/ 0 h 5372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40464" h="5372273">
                <a:moveTo>
                  <a:pt x="3208825" y="0"/>
                </a:moveTo>
                <a:cubicBezTo>
                  <a:pt x="4094918" y="0"/>
                  <a:pt x="4897124" y="359160"/>
                  <a:pt x="5477807" y="939843"/>
                </a:cubicBezTo>
                <a:lnTo>
                  <a:pt x="5540464" y="1008784"/>
                </a:lnTo>
                <a:lnTo>
                  <a:pt x="5540464" y="5372273"/>
                </a:lnTo>
                <a:lnTo>
                  <a:pt x="843928" y="5372273"/>
                </a:lnTo>
                <a:lnTo>
                  <a:pt x="732740" y="5249936"/>
                </a:lnTo>
                <a:cubicBezTo>
                  <a:pt x="274982" y="4695262"/>
                  <a:pt x="0" y="3984156"/>
                  <a:pt x="0" y="3208825"/>
                </a:cubicBezTo>
                <a:cubicBezTo>
                  <a:pt x="0" y="1436640"/>
                  <a:pt x="1436640" y="0"/>
                  <a:pt x="320882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008000" tIns="0" rIns="0" bIns="1044000" anchor="ctr" anchorCtr="0">
            <a:noAutofit/>
          </a:bodyPr>
          <a:lstStyle>
            <a:lvl1pPr marL="0" indent="0" algn="l">
              <a:lnSpc>
                <a:spcPct val="90000"/>
              </a:lnSpc>
              <a:defRPr sz="800"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5027060" y="950913"/>
            <a:ext cx="3685140" cy="2451696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tx1"/>
                </a:solidFill>
              </a:defRPr>
            </a:lvl1pPr>
            <a:lvl2pPr marL="176212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360359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53657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720718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27060" y="3491099"/>
            <a:ext cx="3685140" cy="38556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7" name="Bildplatzhalter 6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98630" y="4694760"/>
            <a:ext cx="1415910" cy="33048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341090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 Institute Sublogo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63430FCB-67F6-47EA-ADEC-C963B338F2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C2509DD-6995-4266-BA57-453EB50298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8" name="Bildplatzhalter 8"/>
          <p:cNvSpPr>
            <a:spLocks noGrp="1"/>
          </p:cNvSpPr>
          <p:nvPr>
            <p:ph type="pic" sz="quarter" idx="10"/>
          </p:nvPr>
        </p:nvSpPr>
        <p:spPr>
          <a:xfrm>
            <a:off x="-1" y="1266840"/>
            <a:ext cx="4792337" cy="387828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itel 14">
            <a:extLst>
              <a:ext uri="{FF2B5EF4-FFF2-40B4-BE49-F238E27FC236}">
                <a16:creationId xmlns:a16="http://schemas.microsoft.com/office/drawing/2014/main" id="{AFF476C3-111E-4CEC-9CE1-84054005F4D8}"/>
              </a:ext>
            </a:extLst>
          </p:cNvPr>
          <p:cNvSpPr>
            <a:spLocks noGrp="1" noChangeAspect="1"/>
          </p:cNvSpPr>
          <p:nvPr>
            <p:ph type="ctrTitle"/>
          </p:nvPr>
        </p:nvSpPr>
        <p:spPr>
          <a:xfrm>
            <a:off x="3899970" y="62746"/>
            <a:ext cx="5244029" cy="5084836"/>
          </a:xfrm>
          <a:custGeom>
            <a:avLst/>
            <a:gdLst>
              <a:gd name="connsiteX0" fmla="*/ 3208825 w 5540464"/>
              <a:gd name="connsiteY0" fmla="*/ 0 h 5372273"/>
              <a:gd name="connsiteX1" fmla="*/ 5477807 w 5540464"/>
              <a:gd name="connsiteY1" fmla="*/ 939843 h 5372273"/>
              <a:gd name="connsiteX2" fmla="*/ 5540464 w 5540464"/>
              <a:gd name="connsiteY2" fmla="*/ 1008784 h 5372273"/>
              <a:gd name="connsiteX3" fmla="*/ 5540464 w 5540464"/>
              <a:gd name="connsiteY3" fmla="*/ 5372273 h 5372273"/>
              <a:gd name="connsiteX4" fmla="*/ 843928 w 5540464"/>
              <a:gd name="connsiteY4" fmla="*/ 5372273 h 5372273"/>
              <a:gd name="connsiteX5" fmla="*/ 732740 w 5540464"/>
              <a:gd name="connsiteY5" fmla="*/ 5249936 h 5372273"/>
              <a:gd name="connsiteX6" fmla="*/ 0 w 5540464"/>
              <a:gd name="connsiteY6" fmla="*/ 3208825 h 5372273"/>
              <a:gd name="connsiteX7" fmla="*/ 3208825 w 5540464"/>
              <a:gd name="connsiteY7" fmla="*/ 0 h 5372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40464" h="5372273">
                <a:moveTo>
                  <a:pt x="3208825" y="0"/>
                </a:moveTo>
                <a:cubicBezTo>
                  <a:pt x="4094918" y="0"/>
                  <a:pt x="4897124" y="359160"/>
                  <a:pt x="5477807" y="939843"/>
                </a:cubicBezTo>
                <a:lnTo>
                  <a:pt x="5540464" y="1008784"/>
                </a:lnTo>
                <a:lnTo>
                  <a:pt x="5540464" y="5372273"/>
                </a:lnTo>
                <a:lnTo>
                  <a:pt x="843928" y="5372273"/>
                </a:lnTo>
                <a:lnTo>
                  <a:pt x="732740" y="5249936"/>
                </a:lnTo>
                <a:cubicBezTo>
                  <a:pt x="274982" y="4695262"/>
                  <a:pt x="0" y="3984156"/>
                  <a:pt x="0" y="3208825"/>
                </a:cubicBezTo>
                <a:cubicBezTo>
                  <a:pt x="0" y="1436640"/>
                  <a:pt x="1436640" y="0"/>
                  <a:pt x="3208825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008000" tIns="0" rIns="0" bIns="1044000" anchor="ctr" anchorCtr="0">
            <a:noAutofit/>
          </a:bodyPr>
          <a:lstStyle>
            <a:lvl1pPr marL="0" indent="0" algn="l">
              <a:lnSpc>
                <a:spcPct val="90000"/>
              </a:lnSpc>
              <a:defRPr sz="800" b="1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343FAED0-A443-4C1F-A299-A7DFEE48CE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9638" y="1429966"/>
            <a:ext cx="4082562" cy="281342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176212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360359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53657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720718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Barrierefreier  Titel – Text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B709A5D-8423-4BCB-B21F-5764E13BC4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9638" y="4331883"/>
            <a:ext cx="4082562" cy="38556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2735643" y="2013697"/>
            <a:ext cx="1548000" cy="15480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841972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51D18541-70CE-40EB-B92C-30B7A64605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868A37DF-9496-476C-BBBA-BE7FB54F5C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0" y="1266842"/>
            <a:ext cx="9144000" cy="38766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88205" y="1456567"/>
            <a:ext cx="4536000" cy="2636385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176212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360359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53657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720718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Barrierefreier  Titel – Text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1" y="4162694"/>
            <a:ext cx="4535487" cy="588645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6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6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5060018" y="698873"/>
            <a:ext cx="3816000" cy="38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7437803" y="3498494"/>
            <a:ext cx="1329711" cy="1328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9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42151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4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8DF9AEFA-E42D-45BB-B5AE-37EFC1305C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7E9C39E4-13B3-44F8-B92B-E1DEC19232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6" name="Rechteck 5"/>
          <p:cNvSpPr/>
          <p:nvPr userDrawn="1"/>
        </p:nvSpPr>
        <p:spPr>
          <a:xfrm>
            <a:off x="0" y="1266841"/>
            <a:ext cx="9144000" cy="3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88207" y="1456566"/>
            <a:ext cx="4534828" cy="2441376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800" b="1">
                <a:solidFill>
                  <a:schemeClr val="bg1"/>
                </a:solidFill>
              </a:defRPr>
            </a:lvl1pPr>
            <a:lvl2pPr marL="176212" indent="0">
              <a:buFontTx/>
              <a:buNone/>
              <a:defRPr sz="2800" b="1">
                <a:solidFill>
                  <a:schemeClr val="bg1"/>
                </a:solidFill>
              </a:defRPr>
            </a:lvl2pPr>
            <a:lvl3pPr marL="360359" indent="0">
              <a:buFontTx/>
              <a:buNone/>
              <a:defRPr sz="2800" b="1">
                <a:solidFill>
                  <a:schemeClr val="bg1"/>
                </a:solidFill>
              </a:defRPr>
            </a:lvl3pPr>
            <a:lvl4pPr marL="536570" indent="0">
              <a:buFontTx/>
              <a:buNone/>
              <a:defRPr sz="2800" b="1">
                <a:solidFill>
                  <a:schemeClr val="bg1"/>
                </a:solidFill>
              </a:defRPr>
            </a:lvl4pPr>
            <a:lvl5pPr marL="720718" indent="0">
              <a:buFontTx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Barrierefreier  Titel – Text durch Klicken </a:t>
            </a:r>
            <a:br>
              <a:rPr lang="de-DE" dirty="0"/>
            </a:br>
            <a:r>
              <a:rPr lang="de-DE" dirty="0"/>
              <a:t>hinzufügen</a:t>
            </a:r>
          </a:p>
        </p:txBody>
      </p:sp>
      <p:sp>
        <p:nvSpPr>
          <p:cNvPr id="15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1" y="3982997"/>
            <a:ext cx="4535487" cy="588645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60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6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60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600">
                <a:solidFill>
                  <a:schemeClr val="bg1"/>
                </a:solidFill>
              </a:defRPr>
            </a:lvl5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E4F7A711-2DC3-438B-A0AC-CD198DE6C5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0018" y="698873"/>
            <a:ext cx="3816000" cy="38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Bildplatzhalter 6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82472" y="4695248"/>
            <a:ext cx="1422400" cy="331513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246516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80E903D-6891-4B4C-972E-C7B41586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46519"/>
            <a:ext cx="8244200" cy="248603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Universität Stuttgart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Universität Stuttgart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5284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89E6229-E650-4C0F-8141-1787714FD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9949" y="0"/>
            <a:ext cx="6543725" cy="3533140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92756" y="566845"/>
            <a:ext cx="4118110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756" y="809999"/>
            <a:ext cx="4118110" cy="1853687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8016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3" y="1749602"/>
            <a:ext cx="3026729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2" y="2025000"/>
            <a:ext cx="5526581" cy="810000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8436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5285CE5-013A-4554-99D3-E6E1B7530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255" y="-1"/>
            <a:ext cx="7842289" cy="4234271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6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00215" y="2594272"/>
            <a:ext cx="2049145" cy="2048400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1404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21D629-C43C-4D84-9C1B-3D969EC17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72" t="52913" r="38079" b="30629"/>
          <a:stretch/>
        </p:blipFill>
        <p:spPr>
          <a:xfrm>
            <a:off x="6038986" y="3139196"/>
            <a:ext cx="1234977" cy="973953"/>
          </a:xfrm>
          <a:prstGeom prst="rect">
            <a:avLst/>
          </a:prstGeom>
        </p:spPr>
      </p:pic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646043"/>
            <a:ext cx="4834626" cy="1863405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3" y="2721601"/>
            <a:ext cx="3805721" cy="41759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0D2932-C830-4590-B29B-5742FBD99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D61ED2-73BD-4AD8-B380-4A5B2952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B0679E-4298-42B0-A6D7-5DEAE17BE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81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22D3E87-4D5E-42EE-BFAA-DEFADCE5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900F60D-1768-48E3-A1B5-14BBCB67F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3960000" cy="370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200" y="1008000"/>
            <a:ext cx="3960000" cy="370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6E2BB5-9BA9-442E-9BF0-88AF7E35C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F3946B-2A28-4BD5-95D8-3381B554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82C5C2-88CF-4E85-87A1-3B28CBF33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9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59DF-9C98-443E-93E0-C25D5A93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FF756D6-45BE-4CA9-8D73-7DC21CF7E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296000"/>
            <a:ext cx="3960000" cy="342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522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52200" y="1296000"/>
            <a:ext cx="3960000" cy="342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2CBE68D-D329-4E19-9C98-F7528AD25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DCB646-1990-4A83-BF7F-7A829A554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E22309-6A52-4A7C-99F1-CEE24DDAA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413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3E3249F-FD38-4D4D-9020-0251E0AF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1507C-4075-4224-82B8-ACF0E9868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000" cy="370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7999"/>
            <a:ext cx="3816512" cy="179034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2863788"/>
            <a:ext cx="3816512" cy="1846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E3EDDE-398D-41B9-A10F-45332586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2BA180-4C39-40A0-8618-13F12EACF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72E9CC-06C1-4D8B-AB4D-A9861EE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38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01769-7A5F-4726-A7DE-F0F6415E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6BEED840-629E-4E70-924A-3F5FA272B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860" cy="370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8000"/>
            <a:ext cx="3816512" cy="370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F8F059-7A22-4E0F-8B79-7FC499F6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88CB11-71F8-486D-B638-C22AA2EAF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B930EF-1FFF-436D-9D19-8CEE6022B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656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3CA99B5-A2F2-4F10-9CFB-140C563A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23A02F9-9EFB-40DA-A6A9-B4AB8316E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951548"/>
            <a:ext cx="3240000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3" y="951548"/>
            <a:ext cx="3239999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951549"/>
            <a:ext cx="2664000" cy="419195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176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A8DCC85-4928-492C-BEE7-FC5B55B3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95729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957295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28407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284074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61085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3610853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041223F-B856-4F2D-B33F-55E181107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EA4A0D-C2FB-47F4-9B26-8F461218A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6C06C85-60EC-4B14-BA0F-EDC84B2B9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70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92EEEF-D15B-42F6-B267-A355CF4E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958620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95862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294605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294605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363059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363059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D3CBA4-59F9-43FE-B9A3-E46A94884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B283E1-50F0-49B0-8DF6-75C63CEBE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D0D84A-45A2-45C5-9990-3E4AD011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23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369BABE-C34D-4B71-ABE7-625BE2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4F73F404-72E1-4BC9-B71C-D15CC67905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7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8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226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1" name="Rechteck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479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583498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C6E7FA-754C-4DF3-93CA-A5652D6FD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860014-FD67-49D7-8E52-32B98F4DB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6E0B2A-3E4B-42AD-A666-EE9AC24DB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89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8B00749-49F7-4FC9-AE55-9A89B467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234A045F-25D1-4F69-800A-3EC98AD24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6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0CCFCC13-9E94-4A8E-927E-B90EB9693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1524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3" name="Rechteck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35345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FF2B5EF4-FFF2-40B4-BE49-F238E27FC236}">
                <a16:creationId xmlns:a16="http://schemas.microsoft.com/office/drawing/2014/main" id="{34D29721-8BC0-4D90-A4F3-75A72451E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75345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76609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76609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7" name="Rechteck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5444" y="2084205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01CD30C1-0EF4-4BAD-97BF-FFFDBEF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735444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433218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433218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91F39C-640C-4E49-B63D-92C6ECC98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628DAD-2434-49AB-A1E0-F2225C469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B1ECFF-6681-442D-8B7C-82576D3E2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217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00D522C-4936-4859-8D4D-0C55FD55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51AA1992-9A0E-4E06-BCFA-97D889E62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466728" y="2084206"/>
            <a:ext cx="2031501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8148DC21-4CB2-4171-8B0E-7865619C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32678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669981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69981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4" name="Rechteck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56630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7" name="Bildplatzhalter 7">
            <a:extLst>
              <a:ext uri="{FF2B5EF4-FFF2-40B4-BE49-F238E27FC236}">
                <a16:creationId xmlns:a16="http://schemas.microsoft.com/office/drawing/2014/main" id="{515DA547-D380-4DDE-8F77-C8902B70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2914830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52133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52133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8" name="Rechteck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031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8" name="Bildplatzhalter 7">
            <a:extLst>
              <a:ext uri="{FF2B5EF4-FFF2-40B4-BE49-F238E27FC236}">
                <a16:creationId xmlns:a16="http://schemas.microsoft.com/office/drawing/2014/main" id="{27A38D11-8E8E-44F4-9460-58E87F53E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989231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26534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26534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2" name="Rechteck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5432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9" name="Bildplatzhalter 7">
            <a:extLst>
              <a:ext uri="{FF2B5EF4-FFF2-40B4-BE49-F238E27FC236}">
                <a16:creationId xmlns:a16="http://schemas.microsoft.com/office/drawing/2014/main" id="{F9D0B43C-E1CE-4C97-B82A-2D4CC82B3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063632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0935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0935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3EA81B-7C92-41D8-9CC0-C6F633C9C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2460AC8-AE27-44EF-AA8F-B31521C49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2C9645-CED1-4CDA-B753-24982D514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645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A6FC187-6C25-4F69-9AFE-1DD17195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B0B00BC-A6AE-499E-84DC-2DAD144AC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184E164-0418-489E-A81C-E71488F7F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D0564E-CD71-44C1-ABC8-1C4B763AD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8A42CD-E97A-4A8C-9ECA-D5E5746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241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45190E-3721-4D8A-B9E3-D91236ACC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24.08.2020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B3C668-B6EA-445F-A363-3748A9AFD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3522D3-196E-42BC-8F70-9C600372E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054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F09DF479-FD16-43D7-9DDB-3550E32C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CCC87B1C-0FE3-4333-ACA0-A95E335661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93154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16" name="Textfeld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tx1"/>
                </a:solidFill>
              </a:rPr>
              <a:t>Vielen Dank!</a:t>
            </a:r>
          </a:p>
        </p:txBody>
      </p:sp>
      <p:sp>
        <p:nvSpPr>
          <p:cNvPr id="6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E-Mail">
            <a:extLst>
              <a:ext uri="{FF2B5EF4-FFF2-40B4-BE49-F238E27FC236}">
                <a16:creationId xmlns:a16="http://schemas.microsoft.com/office/drawing/2014/main" id="{E7E6997E-5F67-46CA-A462-F65B568669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28" name="Email Adresse">
            <a:extLst>
              <a:ext uri="{FF2B5EF4-FFF2-40B4-BE49-F238E27FC236}">
                <a16:creationId xmlns:a16="http://schemas.microsoft.com/office/drawing/2014/main" id="{E81B73EB-A4EC-4386-B739-946B398204D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29" name="Telefonnummer">
            <a:extLst>
              <a:ext uri="{FF2B5EF4-FFF2-40B4-BE49-F238E27FC236}">
                <a16:creationId xmlns:a16="http://schemas.microsoft.com/office/drawing/2014/main" id="{2DA4082A-C3C6-4B7E-8520-071491A1C11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675181" cy="245786"/>
          </a:xfrm>
        </p:spPr>
        <p:txBody>
          <a:bodyPr wrap="none"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30" name="Durchwahl">
            <a:extLst>
              <a:ext uri="{FF2B5EF4-FFF2-40B4-BE49-F238E27FC236}">
                <a16:creationId xmlns:a16="http://schemas.microsoft.com/office/drawing/2014/main" id="{1A7ADEF9-373D-4153-9017-F39E9F0E084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552" y="2803119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1" name="www">
            <a:extLst>
              <a:ext uri="{FF2B5EF4-FFF2-40B4-BE49-F238E27FC236}">
                <a16:creationId xmlns:a16="http://schemas.microsoft.com/office/drawing/2014/main" id="{AEC2B0E7-03E5-45D0-9BAE-82EB0C82800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2" name="Webadresse">
            <a:extLst>
              <a:ext uri="{FF2B5EF4-FFF2-40B4-BE49-F238E27FC236}">
                <a16:creationId xmlns:a16="http://schemas.microsoft.com/office/drawing/2014/main" id="{0E21CC8E-1A45-40C8-9B74-7890EB0C93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3" name="Universität Stuttgart">
            <a:extLst>
              <a:ext uri="{FF2B5EF4-FFF2-40B4-BE49-F238E27FC236}">
                <a16:creationId xmlns:a16="http://schemas.microsoft.com/office/drawing/2014/main" id="{CF7259B9-9504-46FB-B370-AC2773C7296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4" name="Abteilung Institut">
            <a:extLst>
              <a:ext uri="{FF2B5EF4-FFF2-40B4-BE49-F238E27FC236}">
                <a16:creationId xmlns:a16="http://schemas.microsoft.com/office/drawing/2014/main" id="{059F4093-CD26-4895-85F3-B29428C74E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5" name="Adressfeld">
            <a:extLst>
              <a:ext uri="{FF2B5EF4-FFF2-40B4-BE49-F238E27FC236}">
                <a16:creationId xmlns:a16="http://schemas.microsoft.com/office/drawing/2014/main" id="{944C83B1-3AA3-4602-A9BD-2CABB5B04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30902929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te_Schlussfolie bla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3" y="262280"/>
            <a:ext cx="2056867" cy="431998"/>
          </a:xfrm>
          <a:prstGeom prst="rect">
            <a:avLst/>
          </a:prstGeom>
        </p:spPr>
      </p:pic>
      <p:sp>
        <p:nvSpPr>
          <p:cNvPr id="17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2454" y="583201"/>
            <a:ext cx="3561913" cy="435081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16" name="Textfeld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bg1"/>
                </a:solidFill>
              </a:rPr>
              <a:t>Vielen Dank!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E8FAD59D-97FD-4838-AA91-B266FA5DD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1" name="E-Mail">
            <a:extLst>
              <a:ext uri="{FF2B5EF4-FFF2-40B4-BE49-F238E27FC236}">
                <a16:creationId xmlns:a16="http://schemas.microsoft.com/office/drawing/2014/main" id="{ADA7090D-6D2F-4627-AF98-55F7B22519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29" name="Email Adresse">
            <a:extLst>
              <a:ext uri="{FF2B5EF4-FFF2-40B4-BE49-F238E27FC236}">
                <a16:creationId xmlns:a16="http://schemas.microsoft.com/office/drawing/2014/main" id="{A42FBBA1-BB7D-4A0A-A652-A460339A56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0" name="Telefonnummer">
            <a:extLst>
              <a:ext uri="{FF2B5EF4-FFF2-40B4-BE49-F238E27FC236}">
                <a16:creationId xmlns:a16="http://schemas.microsoft.com/office/drawing/2014/main" id="{CA948A15-388C-4F75-B40D-3BD27994E9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675181" cy="245786"/>
          </a:xfrm>
        </p:spPr>
        <p:txBody>
          <a:bodyPr wrap="none"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31" name="Durchwahl">
            <a:extLst>
              <a:ext uri="{FF2B5EF4-FFF2-40B4-BE49-F238E27FC236}">
                <a16:creationId xmlns:a16="http://schemas.microsoft.com/office/drawing/2014/main" id="{AF5EC6AA-0555-45A6-908C-DCCBA57E1B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20552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2" name="www">
            <a:extLst>
              <a:ext uri="{FF2B5EF4-FFF2-40B4-BE49-F238E27FC236}">
                <a16:creationId xmlns:a16="http://schemas.microsoft.com/office/drawing/2014/main" id="{0CFA1923-0E88-43A3-B023-7343A541A89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3" name="Webadresse">
            <a:extLst>
              <a:ext uri="{FF2B5EF4-FFF2-40B4-BE49-F238E27FC236}">
                <a16:creationId xmlns:a16="http://schemas.microsoft.com/office/drawing/2014/main" id="{8B7E10CD-3F91-494E-B799-BA1899405B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4" name="Universität Stuttgart">
            <a:extLst>
              <a:ext uri="{FF2B5EF4-FFF2-40B4-BE49-F238E27FC236}">
                <a16:creationId xmlns:a16="http://schemas.microsoft.com/office/drawing/2014/main" id="{B0F53DE6-85E0-49DF-B7EB-2B9634BBB2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5" name="Abteilung Institut">
            <a:extLst>
              <a:ext uri="{FF2B5EF4-FFF2-40B4-BE49-F238E27FC236}">
                <a16:creationId xmlns:a16="http://schemas.microsoft.com/office/drawing/2014/main" id="{5C49AD49-8C59-4D12-89FD-669E7CC7C3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6" name="Adressfeld">
            <a:extLst>
              <a:ext uri="{FF2B5EF4-FFF2-40B4-BE49-F238E27FC236}">
                <a16:creationId xmlns:a16="http://schemas.microsoft.com/office/drawing/2014/main" id="{FFFEDAD7-3B5F-4F25-9D92-2118491742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34836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6" y="951549"/>
            <a:ext cx="8243887" cy="37590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54400" y="4876200"/>
            <a:ext cx="532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r>
              <a:rPr lang="de-DE"/>
              <a:t>24.08.2020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6725" y="4876200"/>
            <a:ext cx="606350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Universität</a:t>
            </a:r>
            <a:r>
              <a:rPr lang="en-US" dirty="0"/>
              <a:t> Stuttgart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9000" y="4876200"/>
            <a:ext cx="2232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elplatzhalter 6"/>
          <p:cNvSpPr>
            <a:spLocks noGrp="1"/>
          </p:cNvSpPr>
          <p:nvPr>
            <p:ph type="title"/>
          </p:nvPr>
        </p:nvSpPr>
        <p:spPr>
          <a:xfrm>
            <a:off x="466727" y="356400"/>
            <a:ext cx="8245475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6" r:id="rId2"/>
    <p:sldLayoutId id="2147483695" r:id="rId3"/>
    <p:sldLayoutId id="2147483694" r:id="rId4"/>
    <p:sldLayoutId id="2147483662" r:id="rId5"/>
    <p:sldLayoutId id="2147483692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4" r:id="rId22"/>
    <p:sldLayoutId id="2147483715" r:id="rId23"/>
  </p:sldLayoutIdLst>
  <p:hf hdr="0"/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0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0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18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29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9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2967" userDrawn="1">
          <p15:clr>
            <a:srgbClr val="F26B43"/>
          </p15:clr>
        </p15:guide>
        <p15:guide id="4" pos="54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68ECEED-A93E-49E8-AE62-197E772E1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Institut für Maschinelle Sprachverarbeitung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82E699-6223-4A83-938E-631D12D1F7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8204" y="1456567"/>
            <a:ext cx="8343419" cy="1770727"/>
          </a:xfrm>
        </p:spPr>
        <p:txBody>
          <a:bodyPr/>
          <a:lstStyle/>
          <a:p>
            <a:r>
              <a:rPr lang="de-DE" dirty="0">
                <a:solidFill>
                  <a:srgbClr val="00B050"/>
                </a:solidFill>
              </a:rPr>
              <a:t>Understanding</a:t>
            </a:r>
            <a:r>
              <a:rPr lang="de-DE" dirty="0">
                <a:solidFill>
                  <a:srgbClr val="92D050"/>
                </a:solidFill>
              </a:rPr>
              <a:t> </a:t>
            </a:r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recognition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break </a:t>
            </a:r>
            <a:r>
              <a:rPr lang="de-DE" dirty="0" err="1">
                <a:solidFill>
                  <a:srgbClr val="00B050"/>
                </a:solidFill>
              </a:rPr>
              <a:t>anonymisation</a:t>
            </a:r>
            <a:endParaRPr lang="de-DE" dirty="0">
              <a:solidFill>
                <a:srgbClr val="00B050"/>
              </a:solidFill>
            </a:endParaRPr>
          </a:p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66CC04-83F5-4D6C-99FC-A67683A9CE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941" y="3331029"/>
            <a:ext cx="5228088" cy="1420309"/>
          </a:xfrm>
        </p:spPr>
        <p:txBody>
          <a:bodyPr/>
          <a:lstStyle/>
          <a:p>
            <a:r>
              <a:rPr lang="de-DE" dirty="0"/>
              <a:t>Author: Sergei Ukhov</a:t>
            </a:r>
          </a:p>
          <a:p>
            <a:endParaRPr lang="de-DE" dirty="0"/>
          </a:p>
          <a:p>
            <a:r>
              <a:rPr lang="de-DE" dirty="0"/>
              <a:t>Supervisors: Ünal Ege </a:t>
            </a:r>
            <a:r>
              <a:rPr lang="de-DE" dirty="0" err="1"/>
              <a:t>Gaznepoglu</a:t>
            </a:r>
            <a:r>
              <a:rPr lang="de-DE" dirty="0"/>
              <a:t>, Sarina Meyer</a:t>
            </a:r>
          </a:p>
          <a:p>
            <a:r>
              <a:rPr lang="de-DE" dirty="0" err="1"/>
              <a:t>Examiners</a:t>
            </a:r>
            <a:r>
              <a:rPr lang="de-DE" dirty="0"/>
              <a:t>: Prof. Dr. Thang Vu, Dr. Antje Schweitzer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37802-6F90-6AB3-A922-0457F9C2E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526" y="260959"/>
            <a:ext cx="2058521" cy="6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3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3010-4D66-0952-32F1-E72AB9827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0894C-EDAC-3181-ECB1-6A007C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de-DE" dirty="0"/>
              <a:t>Motivation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091851-7276-AA05-5044-41D7ADC2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C7B036-166F-9E75-84AB-E0D6CA3A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341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A1F6-8756-F7BA-3131-DDC8DC27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42A4C7-6015-B2D9-48A4-F12A1CDF9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Voice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Biometric</a:t>
            </a:r>
            <a:r>
              <a:rPr lang="de-DE" dirty="0"/>
              <a:t> Identifier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06107-41C0-35F3-A8AC-4EC582D6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EAB780-990E-E6EF-A7A8-DB54E78F6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3</a:t>
            </a:fld>
            <a:endParaRPr lang="de-DE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BFF619F-B8BD-64E4-CAF1-A2778FC3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4451270"/>
            <a:ext cx="8245479" cy="259319"/>
          </a:xfrm>
        </p:spPr>
        <p:txBody>
          <a:bodyPr/>
          <a:lstStyle/>
          <a:p>
            <a:pPr marL="0" indent="0">
              <a:buNone/>
            </a:pPr>
            <a:r>
              <a:rPr lang="en-GB" sz="1200" dirty="0"/>
              <a:t>Overview of some sensitive attributes </a:t>
            </a:r>
            <a:r>
              <a:rPr lang="en-GB" sz="1200" dirty="0" err="1"/>
              <a:t>discernable</a:t>
            </a:r>
            <a:r>
              <a:rPr lang="en-GB" sz="1200" dirty="0"/>
              <a:t> from speech data (Kröger et al., 2019).</a:t>
            </a:r>
          </a:p>
          <a:p>
            <a:pPr marL="0" indent="0">
              <a:buNone/>
            </a:pPr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3877F0-4535-BBF8-81C4-863310A1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" y="692228"/>
            <a:ext cx="4744890" cy="37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2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B1DD7-B9D1-0E74-994E-89A59D31A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A13DD6-8A1C-A2B2-ADBD-24B32D30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Voice </a:t>
            </a:r>
            <a:r>
              <a:rPr lang="de-DE" dirty="0" err="1"/>
              <a:t>Anonymisation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5241F-20E6-42DE-A627-BDB5D4194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6" y="1333041"/>
            <a:ext cx="8243887" cy="3377550"/>
          </a:xfrm>
        </p:spPr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altering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en-GB" dirty="0"/>
              <a:t>the speaker’s voice to conceal their identity, while leaving all other content (e.g. linguistic, emotion) intact.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Formalised as a task through a series of biennial </a:t>
            </a:r>
            <a:r>
              <a:rPr lang="en-GB" dirty="0" err="1"/>
              <a:t>VoicePrivacy</a:t>
            </a:r>
            <a:r>
              <a:rPr lang="en-GB" dirty="0"/>
              <a:t> Challenges. 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990401-CCD8-9F87-CBB4-0C7EFDB6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8E54D9-6BE9-F9C4-B810-8A9BB57A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7998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97FE-C746-61F4-3B41-795B8856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01D215-140A-FCB8-D48E-AB27B787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Anonymised</a:t>
            </a:r>
            <a:r>
              <a:rPr lang="de-DE" dirty="0"/>
              <a:t> Speech </a:t>
            </a:r>
            <a:r>
              <a:rPr lang="en-PL" dirty="0"/>
              <a:t>≠ Guaranteed Privacy (for all)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68EFA7-29DE-5E50-CA27-FF70891FB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6" y="1319753"/>
            <a:ext cx="8243887" cy="3390838"/>
          </a:xfrm>
        </p:spPr>
        <p:txBody>
          <a:bodyPr/>
          <a:lstStyle/>
          <a:p>
            <a:r>
              <a:rPr lang="de-DE" dirty="0" err="1"/>
              <a:t>Despite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progress</a:t>
            </a:r>
            <a:r>
              <a:rPr lang="de-DE" dirty="0"/>
              <a:t> </a:t>
            </a:r>
            <a:r>
              <a:rPr lang="de-DE" dirty="0" err="1"/>
              <a:t>made</a:t>
            </a:r>
            <a:r>
              <a:rPr lang="de-DE" dirty="0"/>
              <a:t> in </a:t>
            </a:r>
            <a:r>
              <a:rPr lang="de-DE" dirty="0" err="1"/>
              <a:t>developing</a:t>
            </a:r>
            <a:r>
              <a:rPr lang="de-DE" dirty="0"/>
              <a:t> </a:t>
            </a:r>
            <a:r>
              <a:rPr lang="de-DE" dirty="0" err="1"/>
              <a:t>voice</a:t>
            </a:r>
            <a:r>
              <a:rPr lang="de-DE" dirty="0"/>
              <a:t> </a:t>
            </a:r>
            <a:r>
              <a:rPr lang="de-DE" dirty="0" err="1"/>
              <a:t>anonymisation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, </a:t>
            </a:r>
            <a:r>
              <a:rPr lang="de-DE" dirty="0" err="1"/>
              <a:t>speaker</a:t>
            </a:r>
            <a:r>
              <a:rPr lang="de-DE" dirty="0"/>
              <a:t> </a:t>
            </a:r>
            <a:r>
              <a:rPr lang="de-DE" dirty="0" err="1"/>
              <a:t>identity</a:t>
            </a:r>
            <a:r>
              <a:rPr lang="de-DE" dirty="0"/>
              <a:t> </a:t>
            </a:r>
            <a:r>
              <a:rPr lang="de-DE" dirty="0" err="1"/>
              <a:t>leakage</a:t>
            </a:r>
            <a:r>
              <a:rPr lang="de-DE" dirty="0"/>
              <a:t> </a:t>
            </a:r>
            <a:r>
              <a:rPr lang="de-DE" dirty="0" err="1"/>
              <a:t>persists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anonymisation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date. </a:t>
            </a:r>
          </a:p>
          <a:p>
            <a:r>
              <a:rPr lang="de-DE" dirty="0"/>
              <a:t>Some </a:t>
            </a:r>
            <a:r>
              <a:rPr lang="de-DE" dirty="0" err="1"/>
              <a:t>speakers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deanonymise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others</a:t>
            </a:r>
            <a:r>
              <a:rPr lang="de-DE" dirty="0"/>
              <a:t>. </a:t>
            </a:r>
          </a:p>
          <a:p>
            <a:r>
              <a:rPr lang="en-GB" dirty="0"/>
              <a:t>Little work has focused on developing a deep understanding of how anonymisation fails.</a:t>
            </a:r>
          </a:p>
          <a:p>
            <a:pPr marL="0" indent="0">
              <a:buNone/>
            </a:pPr>
            <a:r>
              <a:rPr lang="en-GB" dirty="0"/>
              <a:t> </a:t>
            </a:r>
            <a:endParaRPr lang="de-DE" dirty="0"/>
          </a:p>
          <a:p>
            <a:pPr lvl="1"/>
            <a:r>
              <a:rPr lang="de-DE" dirty="0" err="1"/>
              <a:t>Recent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(</a:t>
            </a:r>
            <a:r>
              <a:rPr lang="de-DE" dirty="0" err="1"/>
              <a:t>Gaznepoglu</a:t>
            </a:r>
            <a:r>
              <a:rPr lang="de-DE" dirty="0"/>
              <a:t> et al., 2025) </a:t>
            </a:r>
            <a:r>
              <a:rPr lang="de-DE" dirty="0" err="1"/>
              <a:t>has</a:t>
            </a:r>
            <a:r>
              <a:rPr lang="de-DE" dirty="0"/>
              <a:t> </a:t>
            </a:r>
            <a:r>
              <a:rPr lang="de-DE" dirty="0" err="1"/>
              <a:t>shown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feasibility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deanonymise</a:t>
            </a:r>
            <a:r>
              <a:rPr lang="de-DE" dirty="0"/>
              <a:t> </a:t>
            </a:r>
            <a:r>
              <a:rPr lang="de-DE" dirty="0" err="1"/>
              <a:t>speakers</a:t>
            </a:r>
            <a:r>
              <a:rPr lang="de-DE" dirty="0"/>
              <a:t> via text-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attackers</a:t>
            </a:r>
            <a:r>
              <a:rPr lang="de-DE" dirty="0"/>
              <a:t>.</a:t>
            </a:r>
          </a:p>
          <a:p>
            <a:pPr lvl="1"/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also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audio-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attacks</a:t>
            </a:r>
            <a:r>
              <a:rPr lang="de-DE" dirty="0"/>
              <a:t>? </a:t>
            </a:r>
          </a:p>
          <a:p>
            <a:pPr marL="176212" lvl="1" indent="0">
              <a:buNone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DBD66A-BDC0-B932-02F8-D3EEE610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34BF1C-F685-D7E8-89C7-4FE7C39D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336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C0C-76CE-C5D9-66B2-4E0E7B1D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E025A-12B1-7887-AC74-4CAA3708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de-DE" dirty="0" err="1"/>
              <a:t>Methodology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95187C-FDD7-0B4D-3EC0-1D96FEE7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9A7BB1-366F-5E05-9A4A-91C6B241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018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0654-B272-98C9-E023-3124F5ED8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08D0E-EE72-7785-C652-1C27D48BC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1011382"/>
            <a:ext cx="8245475" cy="955962"/>
          </a:xfrm>
        </p:spPr>
        <p:txBody>
          <a:bodyPr/>
          <a:lstStyle/>
          <a:p>
            <a:r>
              <a:rPr lang="de-DE" dirty="0"/>
              <a:t>Research </a:t>
            </a:r>
            <a:r>
              <a:rPr lang="de-DE" dirty="0" err="1"/>
              <a:t>Objective</a:t>
            </a:r>
            <a:r>
              <a:rPr lang="de-DE" dirty="0"/>
              <a:t>: </a:t>
            </a:r>
            <a:r>
              <a:rPr lang="de-DE" b="0" dirty="0" err="1"/>
              <a:t>to</a:t>
            </a:r>
            <a:r>
              <a:rPr lang="de-DE" b="0" dirty="0"/>
              <a:t> </a:t>
            </a:r>
            <a:r>
              <a:rPr lang="de-DE" b="0" dirty="0" err="1"/>
              <a:t>use</a:t>
            </a:r>
            <a:r>
              <a:rPr lang="de-DE" b="0" dirty="0"/>
              <a:t> </a:t>
            </a:r>
            <a:r>
              <a:rPr lang="de-DE" dirty="0"/>
              <a:t>Integrated </a:t>
            </a:r>
            <a:r>
              <a:rPr lang="de-DE" dirty="0" err="1"/>
              <a:t>Gradients</a:t>
            </a:r>
            <a:r>
              <a:rPr lang="de-DE" dirty="0"/>
              <a:t> </a:t>
            </a:r>
            <a:r>
              <a:rPr lang="de-DE" b="0" dirty="0"/>
              <a:t>(Sundararajan et al., 2017)</a:t>
            </a:r>
            <a:r>
              <a:rPr lang="de-DE" dirty="0"/>
              <a:t> </a:t>
            </a:r>
            <a:r>
              <a:rPr lang="de-DE" b="0" dirty="0" err="1"/>
              <a:t>to</a:t>
            </a:r>
            <a:r>
              <a:rPr lang="de-DE" b="0" dirty="0"/>
              <a:t> </a:t>
            </a:r>
            <a:r>
              <a:rPr lang="de-DE" b="0" dirty="0" err="1"/>
              <a:t>investigate</a:t>
            </a:r>
            <a:r>
              <a:rPr lang="de-DE" b="0" dirty="0"/>
              <a:t> </a:t>
            </a:r>
            <a:r>
              <a:rPr lang="de-DE" b="0" dirty="0" err="1"/>
              <a:t>linguistic-based</a:t>
            </a:r>
            <a:r>
              <a:rPr lang="de-DE" b="0" dirty="0"/>
              <a:t> </a:t>
            </a:r>
            <a:r>
              <a:rPr lang="de-DE" b="0" dirty="0" err="1"/>
              <a:t>voice</a:t>
            </a:r>
            <a:r>
              <a:rPr lang="de-DE" b="0" dirty="0"/>
              <a:t> </a:t>
            </a:r>
            <a:r>
              <a:rPr lang="de-DE" b="0" dirty="0" err="1"/>
              <a:t>privacy</a:t>
            </a:r>
            <a:r>
              <a:rPr lang="de-DE" b="0" dirty="0"/>
              <a:t> </a:t>
            </a:r>
            <a:r>
              <a:rPr lang="de-DE" b="0" dirty="0" err="1"/>
              <a:t>vulnerabilities</a:t>
            </a:r>
            <a:r>
              <a:rPr lang="de-DE" b="0" dirty="0"/>
              <a:t> </a:t>
            </a:r>
            <a:r>
              <a:rPr lang="de-DE" b="0" dirty="0" err="1"/>
              <a:t>by</a:t>
            </a:r>
            <a:r>
              <a:rPr lang="de-DE" b="0" dirty="0"/>
              <a:t> </a:t>
            </a:r>
            <a:r>
              <a:rPr lang="de-DE" b="0" dirty="0" err="1"/>
              <a:t>examining</a:t>
            </a:r>
            <a:r>
              <a:rPr lang="de-DE" b="0" dirty="0"/>
              <a:t> </a:t>
            </a:r>
            <a:r>
              <a:rPr lang="de-DE" b="0" dirty="0" err="1"/>
              <a:t>two</a:t>
            </a:r>
            <a:r>
              <a:rPr lang="de-DE" b="0" dirty="0"/>
              <a:t> </a:t>
            </a:r>
            <a:r>
              <a:rPr lang="de-DE" b="0" dirty="0" err="1"/>
              <a:t>architecturally</a:t>
            </a:r>
            <a:r>
              <a:rPr lang="de-DE" b="0" dirty="0"/>
              <a:t> different ASV </a:t>
            </a:r>
            <a:r>
              <a:rPr lang="de-DE" b="0" dirty="0" err="1"/>
              <a:t>systems</a:t>
            </a:r>
            <a:r>
              <a:rPr lang="de-DE" b="0" dirty="0"/>
              <a:t>, i.e. </a:t>
            </a:r>
            <a:r>
              <a:rPr lang="de-DE" dirty="0"/>
              <a:t>ECAPA-TDNN</a:t>
            </a:r>
            <a:r>
              <a:rPr lang="de-DE" b="0" dirty="0"/>
              <a:t> (Desplanques et al., 2020) and </a:t>
            </a:r>
            <a:r>
              <a:rPr lang="de-DE" dirty="0" err="1"/>
              <a:t>WavLM</a:t>
            </a:r>
            <a:r>
              <a:rPr lang="de-DE" b="0" dirty="0"/>
              <a:t> (Chen et al., 2022) in </a:t>
            </a:r>
            <a:r>
              <a:rPr lang="de-DE" b="0" dirty="0" err="1"/>
              <a:t>the</a:t>
            </a:r>
            <a:r>
              <a:rPr lang="de-DE" b="0" dirty="0"/>
              <a:t> </a:t>
            </a:r>
            <a:r>
              <a:rPr lang="de-DE" b="0" dirty="0" err="1"/>
              <a:t>context</a:t>
            </a:r>
            <a:r>
              <a:rPr lang="de-DE" b="0" dirty="0"/>
              <a:t> </a:t>
            </a:r>
            <a:r>
              <a:rPr lang="de-DE" b="0" dirty="0" err="1"/>
              <a:t>of</a:t>
            </a:r>
            <a:r>
              <a:rPr lang="de-DE" b="0" dirty="0"/>
              <a:t>: 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EEC2CA-5995-2BFE-C88B-CD981F6BA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6" y="2438399"/>
            <a:ext cx="8243887" cy="2272191"/>
          </a:xfrm>
        </p:spPr>
        <p:txBody>
          <a:bodyPr/>
          <a:lstStyle/>
          <a:p>
            <a:r>
              <a:rPr lang="de-DE" dirty="0"/>
              <a:t>Two </a:t>
            </a:r>
            <a:r>
              <a:rPr lang="de-DE" dirty="0" err="1"/>
              <a:t>anonymisation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: </a:t>
            </a:r>
            <a:r>
              <a:rPr lang="de-DE" b="1" dirty="0"/>
              <a:t>B3</a:t>
            </a:r>
            <a:r>
              <a:rPr lang="de-DE" dirty="0"/>
              <a:t> (Meyer et al., 2023), and </a:t>
            </a:r>
            <a:r>
              <a:rPr lang="de-DE" b="1" dirty="0"/>
              <a:t>B5</a:t>
            </a:r>
            <a:r>
              <a:rPr lang="de-DE" dirty="0"/>
              <a:t> (Champion, 2023);</a:t>
            </a:r>
          </a:p>
          <a:p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attack</a:t>
            </a:r>
            <a:r>
              <a:rPr lang="de-DE" dirty="0"/>
              <a:t> </a:t>
            </a:r>
            <a:r>
              <a:rPr lang="de-DE" dirty="0" err="1"/>
              <a:t>scenarios</a:t>
            </a:r>
            <a:r>
              <a:rPr lang="de-DE" dirty="0"/>
              <a:t>: </a:t>
            </a:r>
            <a:r>
              <a:rPr lang="de-DE" b="1" dirty="0" err="1"/>
              <a:t>unprotected</a:t>
            </a:r>
            <a:r>
              <a:rPr lang="de-DE" dirty="0"/>
              <a:t> (OO), </a:t>
            </a:r>
            <a:r>
              <a:rPr lang="de-DE" b="1" dirty="0"/>
              <a:t>ignorant</a:t>
            </a:r>
            <a:r>
              <a:rPr lang="de-DE" dirty="0"/>
              <a:t> (OA), and </a:t>
            </a:r>
            <a:r>
              <a:rPr lang="de-DE" b="1" dirty="0"/>
              <a:t>semi-</a:t>
            </a:r>
            <a:r>
              <a:rPr lang="de-DE" b="1" dirty="0" err="1"/>
              <a:t>informed</a:t>
            </a:r>
            <a:r>
              <a:rPr lang="de-DE" b="1" dirty="0"/>
              <a:t> </a:t>
            </a:r>
            <a:r>
              <a:rPr lang="de-DE" dirty="0"/>
              <a:t>(AA); </a:t>
            </a:r>
          </a:p>
          <a:p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levels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linguistic</a:t>
            </a:r>
            <a:r>
              <a:rPr lang="de-DE" dirty="0"/>
              <a:t> </a:t>
            </a:r>
            <a:r>
              <a:rPr lang="de-DE" dirty="0" err="1"/>
              <a:t>analysis</a:t>
            </a:r>
            <a:r>
              <a:rPr lang="de-DE" dirty="0"/>
              <a:t>: </a:t>
            </a:r>
            <a:r>
              <a:rPr lang="de-DE" b="1" dirty="0" err="1"/>
              <a:t>phone</a:t>
            </a:r>
            <a:r>
              <a:rPr lang="de-DE" dirty="0"/>
              <a:t>, </a:t>
            </a:r>
            <a:r>
              <a:rPr lang="de-DE" b="1" dirty="0" err="1"/>
              <a:t>word</a:t>
            </a:r>
            <a:r>
              <a:rPr lang="de-DE" dirty="0"/>
              <a:t>, </a:t>
            </a:r>
            <a:r>
              <a:rPr lang="de-DE" b="1" dirty="0" err="1"/>
              <a:t>part-of-speech</a:t>
            </a:r>
            <a:r>
              <a:rPr lang="de-DE" dirty="0"/>
              <a:t>.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5CA347-524D-7711-4226-5647058E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7AAF35-23EE-7494-1A2F-541DE7F0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509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8BC22-F8A1-4BAC-30BD-ABBB3626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8D34F-A876-005B-711F-5A2960D22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IG </a:t>
            </a:r>
            <a:r>
              <a:rPr lang="de-DE" dirty="0" err="1"/>
              <a:t>Attributions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4AD599-A31B-52DC-0F42-64DB6F68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7E70D0-EEC3-7573-D230-18F33FD2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8</a:t>
            </a:fld>
            <a:endParaRPr lang="de-DE" dirty="0"/>
          </a:p>
        </p:txBody>
      </p:sp>
      <p:pic>
        <p:nvPicPr>
          <p:cNvPr id="8" name="Content Placeholder 4" descr="A close-up of a graph&#10;&#10;AI-generated content may be incorrect.">
            <a:extLst>
              <a:ext uri="{FF2B5EF4-FFF2-40B4-BE49-F238E27FC236}">
                <a16:creationId xmlns:a16="http://schemas.microsoft.com/office/drawing/2014/main" id="{D3C92CA7-E84D-6BBA-2A97-E98226B79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91" y="788400"/>
            <a:ext cx="9080509" cy="33020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E98C81-745C-638B-B6FE-7426C1AC1043}"/>
              </a:ext>
            </a:extLst>
          </p:cNvPr>
          <p:cNvSpPr txBox="1"/>
          <p:nvPr/>
        </p:nvSpPr>
        <p:spPr>
          <a:xfrm>
            <a:off x="249382" y="4225636"/>
            <a:ext cx="8631382" cy="201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</a:pPr>
            <a:r>
              <a:rPr lang="en-PL" sz="1200" dirty="0"/>
              <a:t>An example of IG attributions of the ECAPA-TDNN ASV system for a B3-anonymised utterance. </a:t>
            </a:r>
          </a:p>
        </p:txBody>
      </p:sp>
    </p:spTree>
    <p:extLst>
      <p:ext uri="{BB962C8B-B14F-4D97-AF65-F5344CB8AC3E}">
        <p14:creationId xmlns:p14="http://schemas.microsoft.com/office/powerpoint/2010/main" val="169410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0022-06AF-F004-4793-D6CE138A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221D5-3AF6-14FF-73C6-B4E6F2F7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</a:t>
            </a:r>
            <a:r>
              <a:rPr lang="de-DE" dirty="0" err="1"/>
              <a:t>Hypotheses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CA12A7-C1BE-8563-07FA-1B82BC769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H1 : </a:t>
            </a:r>
            <a:r>
              <a:rPr lang="en-GB" i="1" dirty="0"/>
              <a:t>Attacker models based on the self-supervised contextualised embeddings will achieve a considerably higher speaker verification success rate than models relying primarily on low-level acoustic features.</a:t>
            </a:r>
          </a:p>
          <a:p>
            <a:r>
              <a:rPr lang="en-GB" b="1" dirty="0"/>
              <a:t>H2 : </a:t>
            </a:r>
            <a:r>
              <a:rPr lang="en-GB" i="1" dirty="0"/>
              <a:t>Voice privacy attackers with different architectures will exhibit significantly different attribution patterns over linguistic features, as measured by Integrated Gradients attributions.</a:t>
            </a:r>
          </a:p>
          <a:p>
            <a:r>
              <a:rPr lang="en-GB" b="1" dirty="0"/>
              <a:t>H3 : </a:t>
            </a:r>
            <a:r>
              <a:rPr lang="en-GB" i="1" dirty="0"/>
              <a:t>Due to the preservation of the original prosody, the B5 anonymisation system will retain significantly more speaker-identifiable phonetic information than the B3 anonymisation system, as reflected in high and consistent Integrated Gradients attributions at the phone level.</a:t>
            </a:r>
          </a:p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E39422-80F0-D987-700F-4C9F8E23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FBCD51-F57B-C3A8-70B6-758116DB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037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FD08-FE14-335F-6C15-748427E4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A16D4-8D68-03A5-5FF4-D7B56A7E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770F70-B72E-C9F9-37CE-1ADDE697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3467C7-DA66-E40E-261E-62418DD5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8661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D41D-9E9D-42BF-74E7-E6932ED7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D070FB-6D5E-3254-7EE3-CD07A673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de-DE" dirty="0"/>
              <a:t>H1: </a:t>
            </a:r>
            <a:r>
              <a:rPr lang="en-GB" b="0" i="1" dirty="0"/>
              <a:t>Attacker models based on the self-supervised contextualised embeddings will achieve a considerably higher speaker verification success rate than models relying primarily on low-level acoustic features.</a:t>
            </a:r>
            <a:br>
              <a:rPr lang="en-GB" i="1" dirty="0"/>
            </a:br>
            <a:r>
              <a:rPr lang="de-DE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523D95-24DF-4674-DEDD-705A50F6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916EC76-379D-5D17-D7D4-DF6B437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042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FCD5-89E0-9109-E630-ED3EE1AC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1AE30-00D5-9745-422E-0631DD0E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56400"/>
            <a:ext cx="8245475" cy="432000"/>
          </a:xfrm>
        </p:spPr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Results</a:t>
            </a:r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DCB75A-D2BC-4EB0-DBFB-BCA5A0AB0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1797" y="755072"/>
            <a:ext cx="5340627" cy="1885527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395F9A-B332-D8A7-D9C8-53FCC60F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FDACB8-702D-095C-529D-80574E66E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12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BFBBD0-AADD-5D73-AB78-DFA606DC3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8" y="2673927"/>
            <a:ext cx="5340627" cy="18855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720ADC-BF1C-F6CD-E878-BDC192D3C881}"/>
              </a:ext>
            </a:extLst>
          </p:cNvPr>
          <p:cNvSpPr txBox="1"/>
          <p:nvPr/>
        </p:nvSpPr>
        <p:spPr>
          <a:xfrm>
            <a:off x="6151418" y="1274618"/>
            <a:ext cx="2560782" cy="26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</a:pPr>
            <a:r>
              <a:rPr lang="en-PL" sz="1600" dirty="0"/>
              <a:t> B3 system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AF88C-3390-3E7E-6C5B-1029D3E02107}"/>
              </a:ext>
            </a:extLst>
          </p:cNvPr>
          <p:cNvSpPr txBox="1"/>
          <p:nvPr/>
        </p:nvSpPr>
        <p:spPr>
          <a:xfrm>
            <a:off x="6151418" y="3246396"/>
            <a:ext cx="26600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sz="1600" dirty="0">
                <a:solidFill>
                  <a:srgbClr val="000000"/>
                </a:solidFill>
                <a:effectLst/>
              </a:rPr>
              <a:t>B5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F7033-80C5-E2AC-F2AF-CEEBF0D947B1}"/>
              </a:ext>
            </a:extLst>
          </p:cNvPr>
          <p:cNvSpPr/>
          <p:nvPr/>
        </p:nvSpPr>
        <p:spPr>
          <a:xfrm>
            <a:off x="4887685" y="1447973"/>
            <a:ext cx="653144" cy="10448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865848-5542-70B0-5667-1012DF52961F}"/>
              </a:ext>
            </a:extLst>
          </p:cNvPr>
          <p:cNvSpPr/>
          <p:nvPr/>
        </p:nvSpPr>
        <p:spPr>
          <a:xfrm>
            <a:off x="4887685" y="3415673"/>
            <a:ext cx="653144" cy="11104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sz="1600" dirty="0"/>
          </a:p>
        </p:txBody>
      </p:sp>
    </p:spTree>
    <p:extLst>
      <p:ext uri="{BB962C8B-B14F-4D97-AF65-F5344CB8AC3E}">
        <p14:creationId xmlns:p14="http://schemas.microsoft.com/office/powerpoint/2010/main" val="746784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95D2C-A166-72AA-8517-BBB4E5286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81E70-0F89-2751-CB60-0BCF9D77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en-GB" dirty="0"/>
              <a:t>H2 : </a:t>
            </a:r>
            <a:r>
              <a:rPr lang="en-GB" b="0" i="1" dirty="0"/>
              <a:t>Voice privacy attackers with different architectures will exhibit significantly different attribution patterns over linguistic features, as measured by Integrated Gradients attributions.</a:t>
            </a:r>
            <a:br>
              <a:rPr lang="en-GB" i="1" dirty="0"/>
            </a:br>
            <a:br>
              <a:rPr lang="en-GB" i="1" dirty="0"/>
            </a:br>
            <a:r>
              <a:rPr lang="de-DE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30694E-DC62-E319-02BE-601BD99E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18C69F-700A-792F-2403-7E6CE408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354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71A6-59E2-2B7D-9A2C-8A694A14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B8555-103D-FFD8-D28B-3EDA75EB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356400"/>
            <a:ext cx="8243887" cy="364837"/>
          </a:xfrm>
        </p:spPr>
        <p:txBody>
          <a:bodyPr/>
          <a:lstStyle/>
          <a:p>
            <a:r>
              <a:rPr lang="de-DE" dirty="0"/>
              <a:t>Inter-</a:t>
            </a:r>
            <a:r>
              <a:rPr lang="de-DE" dirty="0" err="1"/>
              <a:t>attacker</a:t>
            </a:r>
            <a:r>
              <a:rPr lang="de-DE" dirty="0"/>
              <a:t> Correlation: Phone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C694B1-EDF8-BF36-43B7-B8460B298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212" y="1246909"/>
            <a:ext cx="3336640" cy="34636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Spearman’s correlation of </a:t>
            </a:r>
            <a:r>
              <a:rPr lang="en-GB" dirty="0" err="1"/>
              <a:t>WavLM</a:t>
            </a:r>
            <a:r>
              <a:rPr lang="en-GB" dirty="0"/>
              <a:t> and ECAPA-TDNN speaker-level phone rankings for the B3 (left) and B5 (right) anonymisation systems.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90B383-8F2C-920E-38A1-778A388E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A02669-D7C9-E10E-6E22-EB511043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14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704064-5558-EA38-3E13-AA8663F26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43" y="721237"/>
            <a:ext cx="5464869" cy="4065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AA28AB-E4B1-2BFE-6333-96A3A6949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727"/>
            <a:ext cx="5613212" cy="41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7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EF00-B05F-EDC3-8C70-73C87FC4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616B88-8198-E7DF-2370-E8EA183E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356400"/>
            <a:ext cx="8243887" cy="364837"/>
          </a:xfrm>
        </p:spPr>
        <p:txBody>
          <a:bodyPr/>
          <a:lstStyle/>
          <a:p>
            <a:r>
              <a:rPr lang="de-DE" dirty="0"/>
              <a:t>Inter-</a:t>
            </a:r>
            <a:r>
              <a:rPr lang="de-DE" dirty="0" err="1"/>
              <a:t>attacker</a:t>
            </a:r>
            <a:r>
              <a:rPr lang="de-DE" dirty="0"/>
              <a:t> Correlation: POS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C872BED-D145-DFFA-1879-06E5AD209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776" y="1246909"/>
            <a:ext cx="3295076" cy="34636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Spearman’s correlation of </a:t>
            </a:r>
            <a:r>
              <a:rPr lang="en-GB" dirty="0" err="1"/>
              <a:t>WavLM</a:t>
            </a:r>
            <a:r>
              <a:rPr lang="en-GB" dirty="0"/>
              <a:t> and ECAPA-TDNN speaker-level POS rankings for the B3 (left) and B5 (right) anonymisation systems.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D7B4A0-C13E-6181-AEB6-5BCC51932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CCFA54-7B67-48D5-2BD9-280E1F0B0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15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8D5FEE-F5FA-D0BD-FDF7-A4C39F395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9046"/>
            <a:ext cx="5654776" cy="420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227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767C-1B99-B6CF-5F9D-7D34D74F0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831C5-3A20-37CF-150B-BFAC95DD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356400"/>
            <a:ext cx="8243887" cy="364837"/>
          </a:xfrm>
        </p:spPr>
        <p:txBody>
          <a:bodyPr/>
          <a:lstStyle/>
          <a:p>
            <a:r>
              <a:rPr lang="de-DE" dirty="0"/>
              <a:t>Inter-</a:t>
            </a:r>
            <a:r>
              <a:rPr lang="de-DE" dirty="0" err="1"/>
              <a:t>attacker</a:t>
            </a:r>
            <a:r>
              <a:rPr lang="de-DE" dirty="0"/>
              <a:t> Correlation: Word Level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04F9CD3-3EDD-E856-B6C2-115A15814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212" y="1246909"/>
            <a:ext cx="3336640" cy="3463681"/>
          </a:xfrm>
        </p:spPr>
        <p:txBody>
          <a:bodyPr/>
          <a:lstStyle/>
          <a:p>
            <a:r>
              <a:rPr lang="en-GB" dirty="0"/>
              <a:t>Spearman’s correlation of </a:t>
            </a:r>
            <a:r>
              <a:rPr lang="en-GB" dirty="0" err="1"/>
              <a:t>WavLM</a:t>
            </a:r>
            <a:r>
              <a:rPr lang="en-GB" dirty="0"/>
              <a:t> and ECAPA-TDNN speaker-level word rankings for the B3 (left) and B5 (right) anonymisation systems.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BD3580-C2FD-89B5-44D3-6626EACF8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7524E7-E9E7-06A1-4E32-D9D7507D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16</a:t>
            </a:fld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DCA476-B704-0AFB-02EB-F4DB27854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9077"/>
            <a:ext cx="5714944" cy="42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74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C6CE-5A32-1FAC-7F5A-D938CA5DE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A05445-9237-27BC-1371-D497075DB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7" y="2175164"/>
            <a:ext cx="8245475" cy="1413162"/>
          </a:xfrm>
        </p:spPr>
        <p:txBody>
          <a:bodyPr/>
          <a:lstStyle/>
          <a:p>
            <a:pPr algn="ctr"/>
            <a:r>
              <a:rPr lang="en-GB" dirty="0"/>
              <a:t>H3 : </a:t>
            </a:r>
            <a:r>
              <a:rPr lang="en-GB" b="0" i="1" dirty="0"/>
              <a:t>Due to the preservation of the original prosody, the B5 anonymisation system will retain significantly more speaker-identifiable phonetic information than the B3 anonymisation system, as reflected in high and consistent Integrated Gradients attributions at the phone level.</a:t>
            </a:r>
            <a:br>
              <a:rPr lang="en-GB" i="1" dirty="0"/>
            </a:br>
            <a:br>
              <a:rPr lang="en-GB" i="1" dirty="0"/>
            </a:br>
            <a:r>
              <a:rPr lang="de-DE" dirty="0"/>
              <a:t> 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570B0B-5E5D-6C3A-E17B-C27465CE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17A83F-CD8C-F603-1C7D-DB1CFDC4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862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D01E2-9ED2-60FB-B191-CD8C6A0C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946827-71A9-0035-098C-61A5B9796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670" y="3415455"/>
            <a:ext cx="2410530" cy="1371645"/>
          </a:xfrm>
        </p:spPr>
        <p:txBody>
          <a:bodyPr/>
          <a:lstStyle/>
          <a:p>
            <a:pPr marL="0" indent="0">
              <a:buNone/>
            </a:pPr>
            <a:r>
              <a:rPr lang="en-GB" sz="1200" dirty="0"/>
              <a:t>Average IG attributions by phone category in the semi-informed </a:t>
            </a:r>
            <a:r>
              <a:rPr lang="en-GB" sz="1200" b="1" dirty="0"/>
              <a:t>ECAPA-TDNN</a:t>
            </a:r>
            <a:r>
              <a:rPr lang="en-GB" sz="1200" dirty="0"/>
              <a:t> attack scenario.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8C3F7F-AA8E-4D8B-D92D-ACB1D762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5CBDBC-A963-743F-E1D8-E1CA98AE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18</a:t>
            </a:fld>
            <a:endParaRPr lang="de-D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1F3883-5E29-C4D0-C8FD-8007F9B2B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20"/>
            <a:ext cx="5857118" cy="48543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96FB383-E72F-128D-0697-477BB05B1FDA}"/>
              </a:ext>
            </a:extLst>
          </p:cNvPr>
          <p:cNvSpPr/>
          <p:nvPr/>
        </p:nvSpPr>
        <p:spPr>
          <a:xfrm>
            <a:off x="674914" y="2819400"/>
            <a:ext cx="555172" cy="19677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sz="1600" dirty="0"/>
          </a:p>
        </p:txBody>
      </p:sp>
    </p:spTree>
    <p:extLst>
      <p:ext uri="{BB962C8B-B14F-4D97-AF65-F5344CB8AC3E}">
        <p14:creationId xmlns:p14="http://schemas.microsoft.com/office/powerpoint/2010/main" val="413785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A3F2F-C39F-C186-28A7-781494590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DB17A1-D588-D478-BABE-B2E9FD224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670" y="3415455"/>
            <a:ext cx="2410530" cy="1371645"/>
          </a:xfrm>
        </p:spPr>
        <p:txBody>
          <a:bodyPr/>
          <a:lstStyle/>
          <a:p>
            <a:pPr marL="0" indent="0">
              <a:buNone/>
            </a:pPr>
            <a:r>
              <a:rPr lang="en-GB" sz="1200" dirty="0"/>
              <a:t>Average IG attributions by phone category in the context of the semi-informed</a:t>
            </a:r>
            <a:r>
              <a:rPr lang="en-GB" sz="1200" b="1" dirty="0"/>
              <a:t> </a:t>
            </a:r>
            <a:r>
              <a:rPr lang="en-GB" sz="1200" b="1" dirty="0" err="1"/>
              <a:t>WavLM</a:t>
            </a:r>
            <a:r>
              <a:rPr lang="en-GB" sz="1200" b="1" dirty="0"/>
              <a:t> </a:t>
            </a:r>
            <a:r>
              <a:rPr lang="en-GB" sz="1200" dirty="0"/>
              <a:t>attack scenario.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C17FCA-866B-5143-BED8-D24F5E19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99A911-FDCB-66E7-3486-2EFA46F9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19</a:t>
            </a:fld>
            <a:endParaRPr lang="de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29886F-97DF-EE85-7BE9-86B962DD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9" y="21078"/>
            <a:ext cx="5858014" cy="48551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CF92CF-7E50-40B6-7D70-47DCC07CF33C}"/>
              </a:ext>
            </a:extLst>
          </p:cNvPr>
          <p:cNvSpPr/>
          <p:nvPr/>
        </p:nvSpPr>
        <p:spPr>
          <a:xfrm>
            <a:off x="674914" y="2819400"/>
            <a:ext cx="555172" cy="19677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sz="1600" dirty="0"/>
          </a:p>
        </p:txBody>
      </p:sp>
    </p:spTree>
    <p:extLst>
      <p:ext uri="{BB962C8B-B14F-4D97-AF65-F5344CB8AC3E}">
        <p14:creationId xmlns:p14="http://schemas.microsoft.com/office/powerpoint/2010/main" val="150570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CF4F-176B-B32D-0DD1-606F96C2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33228-2E83-755C-CE3D-DA77D439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Conclusions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625008-F7DD-6901-7EE5-05D8CE2C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Exposure to anonymisation reduces architectural biases and drives attackers toward a shared, phonetics-driven strategy for identifying speakers. </a:t>
            </a:r>
          </a:p>
          <a:p>
            <a:r>
              <a:rPr lang="en-GB" dirty="0"/>
              <a:t>B5 fails to sufficiently obscure vowel information, allowing both attackers to consistently exploit these segments as strong speaker cues.</a:t>
            </a:r>
          </a:p>
          <a:p>
            <a:r>
              <a:rPr lang="en-GB" dirty="0"/>
              <a:t>B3 assigns high importance to silent regions, suggesting that artefacts in silent segments drive unintended speaker discrimination.</a:t>
            </a:r>
          </a:p>
          <a:p>
            <a:r>
              <a:rPr lang="en-GB" dirty="0"/>
              <a:t>Speaker identity leakage is not necessarily tied to complex semantic representations but persists through relatively simple and robust phonetic patterns. 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1D730F-F54D-1DCE-BAE1-5DC1A9129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3DB495-D077-44E2-59A4-232A6EBA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5513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326C-DDA1-DA29-AD0C-945E632B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9FB340-C4D4-A810-D0CA-767EB7DD6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References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7E686B-E828-9431-1BB7-B76929703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6" y="707570"/>
            <a:ext cx="8243887" cy="4168629"/>
          </a:xfrm>
        </p:spPr>
        <p:txBody>
          <a:bodyPr/>
          <a:lstStyle/>
          <a:p>
            <a:r>
              <a:rPr lang="en-GB" sz="1200" dirty="0"/>
              <a:t>P. Champion, “Anonymizing speech: Evaluating and designing speaker anonymization techniques,” Ph.D. dissertation, Université de Lorraine, 2023.</a:t>
            </a:r>
          </a:p>
          <a:p>
            <a:r>
              <a:rPr lang="en-GB" sz="1200" dirty="0"/>
              <a:t>S. Chen et al. (2022). ‘</a:t>
            </a:r>
            <a:r>
              <a:rPr lang="en-GB" sz="1200" dirty="0" err="1"/>
              <a:t>WavLM</a:t>
            </a:r>
            <a:r>
              <a:rPr lang="en-GB" sz="1200" dirty="0"/>
              <a:t>: Large-Scale Self-Supervised Pre-Training for Full Stack Speech Processing’. In: </a:t>
            </a:r>
            <a:r>
              <a:rPr lang="en-GB" sz="1200" i="1" dirty="0"/>
              <a:t>IEEE Journal of Selected Topics in Signal Processing.</a:t>
            </a:r>
            <a:endParaRPr lang="en-GB" sz="1200" dirty="0"/>
          </a:p>
          <a:p>
            <a:r>
              <a:rPr lang="en-GB" sz="1200" dirty="0"/>
              <a:t>B. Desplanques et al. (2020). ‘ECAPA-TDNN: Emphasized Channel Attention, Propagation and Aggregation in TDNN Based Speaker Verification’. In: </a:t>
            </a:r>
            <a:r>
              <a:rPr lang="en-GB" sz="1200" i="1" dirty="0"/>
              <a:t>Proc. </a:t>
            </a:r>
            <a:r>
              <a:rPr lang="en-GB" sz="1200" i="1" dirty="0" err="1"/>
              <a:t>Interspeech</a:t>
            </a:r>
            <a:r>
              <a:rPr lang="en-GB" sz="1200" i="1" dirty="0"/>
              <a:t> Conf.</a:t>
            </a:r>
          </a:p>
          <a:p>
            <a:r>
              <a:rPr lang="en-GB" sz="1200" dirty="0"/>
              <a:t>U. E. </a:t>
            </a:r>
            <a:r>
              <a:rPr lang="en-GB" sz="1200" dirty="0" err="1"/>
              <a:t>Gaznepoglu</a:t>
            </a:r>
            <a:r>
              <a:rPr lang="en-GB" sz="1200" dirty="0"/>
              <a:t> et al. (2025). ‘You Are What You Say: Exploiting Linguistic Content for </a:t>
            </a:r>
            <a:r>
              <a:rPr lang="en-GB" sz="1200" dirty="0" err="1"/>
              <a:t>VoicePrivacy</a:t>
            </a:r>
            <a:r>
              <a:rPr lang="en-GB" sz="1200" dirty="0"/>
              <a:t> Attacks’. In: </a:t>
            </a:r>
            <a:r>
              <a:rPr lang="en-GB" sz="1200" i="1" dirty="0"/>
              <a:t>Proc. </a:t>
            </a:r>
            <a:r>
              <a:rPr lang="en-GB" sz="1200" i="1" dirty="0" err="1"/>
              <a:t>Interspeech</a:t>
            </a:r>
            <a:r>
              <a:rPr lang="en-GB" sz="1200" i="1" dirty="0"/>
              <a:t> Conf.</a:t>
            </a:r>
          </a:p>
          <a:p>
            <a:r>
              <a:rPr lang="en-GB" sz="1200" dirty="0"/>
              <a:t>J. L. Kröger et al. (2020). ‘Privacy Implications of Voice and Speech Analysis – Information Disclosure by Inference’. In: </a:t>
            </a:r>
            <a:r>
              <a:rPr lang="en-GB" sz="1200" i="1" dirty="0"/>
              <a:t>Privacy and Identity Management. Data for Better Living: AI and Privacy: 14th IFIP WG 9.2, 9.6/11.7, 11.6/SIG 9.2.2 International Summer School, Windisch, Switzerland, August 19–23, 2019, Revised Selected Papers. </a:t>
            </a:r>
            <a:r>
              <a:rPr lang="en-GB" sz="1200" dirty="0"/>
              <a:t>Ed. by M. Friedewald et al. </a:t>
            </a:r>
            <a:r>
              <a:rPr lang="en-GB" sz="1200" dirty="0" err="1"/>
              <a:t>isbn</a:t>
            </a:r>
            <a:r>
              <a:rPr lang="en-GB" sz="1200" dirty="0"/>
              <a:t>: 978-3-030-42504-3.</a:t>
            </a:r>
          </a:p>
          <a:p>
            <a:r>
              <a:rPr lang="en-GB" sz="1200" dirty="0"/>
              <a:t>S. Meyer et al. (2023). ‘Prosody Is Not Identity: A Speaker Anonymization Approach Using Prosody Cloning’. In: </a:t>
            </a:r>
            <a:r>
              <a:rPr lang="en-GB" sz="1200" i="1" dirty="0"/>
              <a:t>Proc. IEEE Intl. Conf. on Acoustics, Speech and Signal Processing (ICASSP).</a:t>
            </a:r>
          </a:p>
          <a:p>
            <a:r>
              <a:rPr lang="en-GB" sz="1200" dirty="0"/>
              <a:t>M. Sundararajan et al. (2017). ‘Axiomatic Attribution for Deep Networks’. In: </a:t>
            </a:r>
            <a:r>
              <a:rPr lang="en-GB" sz="1200" i="1" dirty="0"/>
              <a:t>Proc. Intl. Conf. on Machine Learning (ICML).</a:t>
            </a:r>
          </a:p>
          <a:p>
            <a:endParaRPr lang="en-GB" sz="1200" dirty="0"/>
          </a:p>
          <a:p>
            <a:endParaRPr lang="de-DE" sz="120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923975-A688-6B0E-6739-2F0876C9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27.04.2026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5E46C4-AEBB-2B13-4459-2297CD81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634870"/>
      </p:ext>
    </p:extLst>
  </p:cSld>
  <p:clrMapOvr>
    <a:masterClrMapping/>
  </p:clrMapOvr>
</p:sld>
</file>

<file path=ppt/theme/theme1.xml><?xml version="1.0" encoding="utf-8"?>
<a:theme xmlns:a="http://schemas.openxmlformats.org/drawingml/2006/main" name="Uni_Stuttgart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750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 Master D_16zu9 Institute.pptx" id="{266BC66B-825B-403F-9A9C-61AA4CDB5599}" vid="{E6FD89BB-BBE7-4ED5-9F52-F067FE05C298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Uni_Stuttgart</Template>
  <TotalTime>3471</TotalTime>
  <Words>1177</Words>
  <Application>Microsoft Macintosh PowerPoint</Application>
  <PresentationFormat>On-screen Show (16:9)</PresentationFormat>
  <Paragraphs>186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Helvetica</vt:lpstr>
      <vt:lpstr>Uni_Stuttgart</vt:lpstr>
      <vt:lpstr>PowerPoint Presentation</vt:lpstr>
      <vt:lpstr>Motivation</vt:lpstr>
      <vt:lpstr>Voice as a Biometric Identifier</vt:lpstr>
      <vt:lpstr>Voice Anonymisation</vt:lpstr>
      <vt:lpstr>Anonymised Speech ≠ Guaranteed Privacy (for all)</vt:lpstr>
      <vt:lpstr>Methodology</vt:lpstr>
      <vt:lpstr>Research Objective: to use Integrated Gradients (Sundararajan et al., 2017) to investigate linguistic-based voice privacy vulnerabilities by examining two architecturally different ASV systems, i.e. ECAPA-TDNN (Desplanques et al., 2020) and WavLM (Chen et al., 2022) in the context of: </vt:lpstr>
      <vt:lpstr>Example of IG Attributions</vt:lpstr>
      <vt:lpstr>Research Hypotheses</vt:lpstr>
      <vt:lpstr>Results</vt:lpstr>
      <vt:lpstr>H1: Attacker models based on the self-supervised contextualised embeddings will achieve a considerably higher speaker verification success rate than models relying primarily on low-level acoustic features.  </vt:lpstr>
      <vt:lpstr>Evaluation Results</vt:lpstr>
      <vt:lpstr>H2 : Voice privacy attackers with different architectures will exhibit significantly different attribution patterns over linguistic features, as measured by Integrated Gradients attributions.   </vt:lpstr>
      <vt:lpstr>Inter-attacker Correlation: Phone Level</vt:lpstr>
      <vt:lpstr>Inter-attacker Correlation: POS Level</vt:lpstr>
      <vt:lpstr>Inter-attacker Correlation: Word Level</vt:lpstr>
      <vt:lpstr>H3 : Due to the preservation of the original prosody, the B5 anonymisation system will retain significantly more speaker-identifiable phonetic information than the B3 anonymisation system, as reflected in high and consistent Integrated Gradients attributions at the phone level.   </vt:lpstr>
      <vt:lpstr>PowerPoint Presentation</vt:lpstr>
      <vt:lpstr>PowerPoint Presentation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Sergei Ukhov</dc:creator>
  <cp:lastModifiedBy>Sergei Ukhov</cp:lastModifiedBy>
  <cp:revision>15</cp:revision>
  <dcterms:created xsi:type="dcterms:W3CDTF">2026-04-22T19:39:19Z</dcterms:created>
  <dcterms:modified xsi:type="dcterms:W3CDTF">2026-07-24T05:55:03Z</dcterms:modified>
</cp:coreProperties>
</file>